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  <p:sldMasterId id="2147483648" r:id="rId5"/>
    <p:sldMasterId id="2147483658" r:id="rId6"/>
    <p:sldMasterId id="2147483673" r:id="rId7"/>
    <p:sldMasterId id="2147483680" r:id="rId8"/>
    <p:sldMasterId id="2147483686" r:id="rId9"/>
  </p:sldMasterIdLst>
  <p:notesMasterIdLst>
    <p:notesMasterId r:id="rId15"/>
  </p:notesMasterIdLst>
  <p:handoutMasterIdLst>
    <p:handoutMasterId r:id="rId16"/>
  </p:handoutMasterIdLst>
  <p:sldIdLst>
    <p:sldId id="256" r:id="rId14"/>
    <p:sldId id="257" r:id="rId13"/>
    <p:sldId id="258" r:id="rId12"/>
    <p:sldId id="259" r:id="rId11"/>
    <p:sldId id="260" r:id="rId10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AB2F92-7B01-3F38-DA6C-BD6622DA9C48}" name="MARTOU Véronique" initials="MV" userId="S::veronique.martou@eurocontrol.int::bac5d3b0-bbc9-4a7b-a99c-d01154fb3ee3" providerId="AD"/>
  <p188:author id="{ED8CAACD-C4C3-3EF3-B59E-99B9260C4699}" name="CAPPELLAZZO Valerio" initials="CV" userId="S::valerio.cappellazzo@eurocontrol.int::aaca989f-6bf1-47b7-a0e1-44fad26a30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2990EA"/>
    <a:srgbClr val="0D3D6E"/>
    <a:srgbClr val="003266"/>
    <a:srgbClr val="EBEBEB"/>
    <a:srgbClr val="E6E6E6"/>
    <a:srgbClr val="EFEFEF"/>
    <a:srgbClr val="F8F8F8"/>
    <a:srgbClr val="FA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4BD9DB-93CC-4EAE-A5D7-C97146FCA8CE}" v="49" dt="2025-09-04T11:39:26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2.xml"/><Relationship Id="rId14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Relationship Id="rId22" Type="http://schemas.microsoft.com/office/2018/10/relationships/authors" Target="authors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0EFEAC-62F2-0D0D-192F-015DE17D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DD28B-5E04-251F-9B15-502BF4B6AF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B4D20-705F-0648-B8AF-3B3DED14DB2E}" type="datetimeFigureOut">
              <a:rPr lang="en-BE" smtClean="0"/>
              <a:t>08/25/2026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67F80-9EF5-6BF1-C6FC-AA190A1ECC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076DD-5E72-A813-AF39-E0D13188A6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DE010-69C8-A840-AE5B-9B39A3912A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529113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999B9-7757-9346-98A0-B9FC7AC9715F}" type="datetimeFigureOut">
              <a:rPr lang="en-BE" smtClean="0"/>
              <a:t>08/25/2026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67E3F-B5B6-F84C-83C2-C4235BA0155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45612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21D0F0-6684-55E6-641A-BFC21D620BF5}"/>
              </a:ext>
            </a:extLst>
          </p:cNvPr>
          <p:cNvSpPr/>
          <p:nvPr userDrawn="1"/>
        </p:nvSpPr>
        <p:spPr>
          <a:xfrm>
            <a:off x="-1" y="0"/>
            <a:ext cx="12192001" cy="6874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/>
              <a:t>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D1348-E7A8-CF70-5BB2-3C6A85CEA3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59668" y="856743"/>
            <a:ext cx="5865711" cy="2387600"/>
          </a:xfrm>
        </p:spPr>
        <p:txBody>
          <a:bodyPr anchor="b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C4D3A-C864-D5F7-A972-C5947DD27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79266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990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E3502E5-0A00-509E-6ACF-A8E942FFA31F}"/>
              </a:ext>
            </a:extLst>
          </p:cNvPr>
          <p:cNvSpPr/>
          <p:nvPr userDrawn="1"/>
        </p:nvSpPr>
        <p:spPr>
          <a:xfrm>
            <a:off x="-1" y="1"/>
            <a:ext cx="7814133" cy="6874551"/>
          </a:xfrm>
          <a:custGeom>
            <a:avLst/>
            <a:gdLst>
              <a:gd name="connsiteX0" fmla="*/ 7123176 w 7123176"/>
              <a:gd name="connsiteY0" fmla="*/ 0 h 6949440"/>
              <a:gd name="connsiteX1" fmla="*/ 310896 w 7123176"/>
              <a:gd name="connsiteY1" fmla="*/ 694944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949440"/>
              <a:gd name="connsiteX1" fmla="*/ 979671 w 7123176"/>
              <a:gd name="connsiteY1" fmla="*/ 626128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261280"/>
              <a:gd name="connsiteX1" fmla="*/ 979671 w 7123176"/>
              <a:gd name="connsiteY1" fmla="*/ 6261280 h 6261280"/>
              <a:gd name="connsiteX2" fmla="*/ 0 w 7123176"/>
              <a:gd name="connsiteY2" fmla="*/ 6261280 h 6261280"/>
              <a:gd name="connsiteX3" fmla="*/ 0 w 7123176"/>
              <a:gd name="connsiteY3" fmla="*/ 0 h 6261280"/>
              <a:gd name="connsiteX4" fmla="*/ 82296 w 7123176"/>
              <a:gd name="connsiteY4" fmla="*/ 0 h 6261280"/>
              <a:gd name="connsiteX5" fmla="*/ 7123176 w 7123176"/>
              <a:gd name="connsiteY5" fmla="*/ 0 h 6261280"/>
              <a:gd name="connsiteX0" fmla="*/ 7123176 w 7123176"/>
              <a:gd name="connsiteY0" fmla="*/ 0 h 6265587"/>
              <a:gd name="connsiteX1" fmla="*/ 979671 w 7123176"/>
              <a:gd name="connsiteY1" fmla="*/ 6261280 h 6265587"/>
              <a:gd name="connsiteX2" fmla="*/ 0 w 7123176"/>
              <a:gd name="connsiteY2" fmla="*/ 6261280 h 6265587"/>
              <a:gd name="connsiteX3" fmla="*/ 0 w 7123176"/>
              <a:gd name="connsiteY3" fmla="*/ 0 h 6265587"/>
              <a:gd name="connsiteX4" fmla="*/ 82296 w 7123176"/>
              <a:gd name="connsiteY4" fmla="*/ 0 h 6265587"/>
              <a:gd name="connsiteX5" fmla="*/ 7123176 w 7123176"/>
              <a:gd name="connsiteY5" fmla="*/ 0 h 6265587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6128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  <a:gd name="connsiteX0" fmla="*/ 7123176 w 7123176"/>
              <a:gd name="connsiteY0" fmla="*/ 0 h 6293133"/>
              <a:gd name="connsiteX1" fmla="*/ 950593 w 7123176"/>
              <a:gd name="connsiteY1" fmla="*/ 6280708 h 6293133"/>
              <a:gd name="connsiteX2" fmla="*/ 0 w 7123176"/>
              <a:gd name="connsiteY2" fmla="*/ 6290422 h 6293133"/>
              <a:gd name="connsiteX3" fmla="*/ 0 w 7123176"/>
              <a:gd name="connsiteY3" fmla="*/ 0 h 6293133"/>
              <a:gd name="connsiteX4" fmla="*/ 82296 w 7123176"/>
              <a:gd name="connsiteY4" fmla="*/ 0 h 6293133"/>
              <a:gd name="connsiteX5" fmla="*/ 7123176 w 7123176"/>
              <a:gd name="connsiteY5" fmla="*/ 0 h 6293133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7456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3176" h="6280708">
                <a:moveTo>
                  <a:pt x="7123176" y="0"/>
                </a:moveTo>
                <a:lnTo>
                  <a:pt x="950593" y="6280708"/>
                </a:lnTo>
                <a:lnTo>
                  <a:pt x="0" y="6274560"/>
                </a:lnTo>
                <a:lnTo>
                  <a:pt x="0" y="0"/>
                </a:lnTo>
                <a:lnTo>
                  <a:pt x="82296" y="0"/>
                </a:lnTo>
                <a:lnTo>
                  <a:pt x="7123176" y="0"/>
                </a:lnTo>
                <a:close/>
              </a:path>
            </a:pathLst>
          </a:custGeom>
          <a:solidFill>
            <a:srgbClr val="0132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 descr="A logo on a black background&#10;&#10;Description automatically generated">
            <a:extLst>
              <a:ext uri="{FF2B5EF4-FFF2-40B4-BE49-F238E27FC236}">
                <a16:creationId xmlns:a16="http://schemas.microsoft.com/office/drawing/2014/main" id="{464B43B6-5307-EA12-18EA-2B295563B6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91" y="412253"/>
            <a:ext cx="2735261" cy="1526275"/>
          </a:xfrm>
          <a:prstGeom prst="rect">
            <a:avLst/>
          </a:prstGeom>
        </p:spPr>
      </p:pic>
      <p:pic>
        <p:nvPicPr>
          <p:cNvPr id="9" name="Picture 8" descr="A logo with colorful letters and a star&#10;&#10;Description automatically generated">
            <a:extLst>
              <a:ext uri="{FF2B5EF4-FFF2-40B4-BE49-F238E27FC236}">
                <a16:creationId xmlns:a16="http://schemas.microsoft.com/office/drawing/2014/main" id="{692A0F4B-5EA4-2A80-244A-6AABC745C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38" y="5765256"/>
            <a:ext cx="4315632" cy="7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90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2220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81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4583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57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2990EA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662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21D0F0-6684-55E6-641A-BFC21D620BF5}"/>
              </a:ext>
            </a:extLst>
          </p:cNvPr>
          <p:cNvSpPr/>
          <p:nvPr userDrawn="1"/>
        </p:nvSpPr>
        <p:spPr>
          <a:xfrm>
            <a:off x="-1" y="0"/>
            <a:ext cx="12192001" cy="6874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/>
              <a:t>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D1348-E7A8-CF70-5BB2-3C6A85CEA3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59668" y="856743"/>
            <a:ext cx="5865711" cy="2387600"/>
          </a:xfrm>
        </p:spPr>
        <p:txBody>
          <a:bodyPr anchor="b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C4D3A-C864-D5F7-A972-C5947DD27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79266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990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E3502E5-0A00-509E-6ACF-A8E942FFA31F}"/>
              </a:ext>
            </a:extLst>
          </p:cNvPr>
          <p:cNvSpPr/>
          <p:nvPr userDrawn="1"/>
        </p:nvSpPr>
        <p:spPr>
          <a:xfrm>
            <a:off x="-1" y="1"/>
            <a:ext cx="7814133" cy="6874551"/>
          </a:xfrm>
          <a:custGeom>
            <a:avLst/>
            <a:gdLst>
              <a:gd name="connsiteX0" fmla="*/ 7123176 w 7123176"/>
              <a:gd name="connsiteY0" fmla="*/ 0 h 6949440"/>
              <a:gd name="connsiteX1" fmla="*/ 310896 w 7123176"/>
              <a:gd name="connsiteY1" fmla="*/ 694944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949440"/>
              <a:gd name="connsiteX1" fmla="*/ 979671 w 7123176"/>
              <a:gd name="connsiteY1" fmla="*/ 626128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261280"/>
              <a:gd name="connsiteX1" fmla="*/ 979671 w 7123176"/>
              <a:gd name="connsiteY1" fmla="*/ 6261280 h 6261280"/>
              <a:gd name="connsiteX2" fmla="*/ 0 w 7123176"/>
              <a:gd name="connsiteY2" fmla="*/ 6261280 h 6261280"/>
              <a:gd name="connsiteX3" fmla="*/ 0 w 7123176"/>
              <a:gd name="connsiteY3" fmla="*/ 0 h 6261280"/>
              <a:gd name="connsiteX4" fmla="*/ 82296 w 7123176"/>
              <a:gd name="connsiteY4" fmla="*/ 0 h 6261280"/>
              <a:gd name="connsiteX5" fmla="*/ 7123176 w 7123176"/>
              <a:gd name="connsiteY5" fmla="*/ 0 h 6261280"/>
              <a:gd name="connsiteX0" fmla="*/ 7123176 w 7123176"/>
              <a:gd name="connsiteY0" fmla="*/ 0 h 6265587"/>
              <a:gd name="connsiteX1" fmla="*/ 979671 w 7123176"/>
              <a:gd name="connsiteY1" fmla="*/ 6261280 h 6265587"/>
              <a:gd name="connsiteX2" fmla="*/ 0 w 7123176"/>
              <a:gd name="connsiteY2" fmla="*/ 6261280 h 6265587"/>
              <a:gd name="connsiteX3" fmla="*/ 0 w 7123176"/>
              <a:gd name="connsiteY3" fmla="*/ 0 h 6265587"/>
              <a:gd name="connsiteX4" fmla="*/ 82296 w 7123176"/>
              <a:gd name="connsiteY4" fmla="*/ 0 h 6265587"/>
              <a:gd name="connsiteX5" fmla="*/ 7123176 w 7123176"/>
              <a:gd name="connsiteY5" fmla="*/ 0 h 6265587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6128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  <a:gd name="connsiteX0" fmla="*/ 7123176 w 7123176"/>
              <a:gd name="connsiteY0" fmla="*/ 0 h 6293133"/>
              <a:gd name="connsiteX1" fmla="*/ 950593 w 7123176"/>
              <a:gd name="connsiteY1" fmla="*/ 6280708 h 6293133"/>
              <a:gd name="connsiteX2" fmla="*/ 0 w 7123176"/>
              <a:gd name="connsiteY2" fmla="*/ 6290422 h 6293133"/>
              <a:gd name="connsiteX3" fmla="*/ 0 w 7123176"/>
              <a:gd name="connsiteY3" fmla="*/ 0 h 6293133"/>
              <a:gd name="connsiteX4" fmla="*/ 82296 w 7123176"/>
              <a:gd name="connsiteY4" fmla="*/ 0 h 6293133"/>
              <a:gd name="connsiteX5" fmla="*/ 7123176 w 7123176"/>
              <a:gd name="connsiteY5" fmla="*/ 0 h 6293133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7456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3176" h="6280708">
                <a:moveTo>
                  <a:pt x="7123176" y="0"/>
                </a:moveTo>
                <a:lnTo>
                  <a:pt x="950593" y="6280708"/>
                </a:lnTo>
                <a:lnTo>
                  <a:pt x="0" y="6274560"/>
                </a:lnTo>
                <a:lnTo>
                  <a:pt x="0" y="0"/>
                </a:lnTo>
                <a:lnTo>
                  <a:pt x="82296" y="0"/>
                </a:lnTo>
                <a:lnTo>
                  <a:pt x="7123176" y="0"/>
                </a:lnTo>
                <a:close/>
              </a:path>
            </a:pathLst>
          </a:custGeom>
          <a:solidFill>
            <a:srgbClr val="0132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 descr="A logo on a black background&#10;&#10;Description automatically generated">
            <a:extLst>
              <a:ext uri="{FF2B5EF4-FFF2-40B4-BE49-F238E27FC236}">
                <a16:creationId xmlns:a16="http://schemas.microsoft.com/office/drawing/2014/main" id="{464B43B6-5307-EA12-18EA-2B295563B6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91" y="412253"/>
            <a:ext cx="2735261" cy="1526275"/>
          </a:xfrm>
          <a:prstGeom prst="rect">
            <a:avLst/>
          </a:prstGeom>
        </p:spPr>
      </p:pic>
      <p:pic>
        <p:nvPicPr>
          <p:cNvPr id="9" name="Picture 8" descr="A logo with colorful letters and a star&#10;&#10;Description automatically generated">
            <a:extLst>
              <a:ext uri="{FF2B5EF4-FFF2-40B4-BE49-F238E27FC236}">
                <a16:creationId xmlns:a16="http://schemas.microsoft.com/office/drawing/2014/main" id="{692A0F4B-5EA4-2A80-244A-6AABC745C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38" y="5765256"/>
            <a:ext cx="4315632" cy="7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22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3422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3482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6786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996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2990EA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0368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701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009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51977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064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B0F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29041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21D0F0-6684-55E6-641A-BFC21D620BF5}"/>
              </a:ext>
            </a:extLst>
          </p:cNvPr>
          <p:cNvSpPr/>
          <p:nvPr userDrawn="1"/>
        </p:nvSpPr>
        <p:spPr>
          <a:xfrm>
            <a:off x="-1" y="0"/>
            <a:ext cx="12192001" cy="6874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/>
              <a:t>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D1348-E7A8-CF70-5BB2-3C6A85CEA3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59668" y="856743"/>
            <a:ext cx="5865711" cy="2387600"/>
          </a:xfrm>
        </p:spPr>
        <p:txBody>
          <a:bodyPr anchor="b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C4D3A-C864-D5F7-A972-C5947DD27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79266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990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E3502E5-0A00-509E-6ACF-A8E942FFA31F}"/>
              </a:ext>
            </a:extLst>
          </p:cNvPr>
          <p:cNvSpPr/>
          <p:nvPr userDrawn="1"/>
        </p:nvSpPr>
        <p:spPr>
          <a:xfrm>
            <a:off x="-1" y="1"/>
            <a:ext cx="7814133" cy="6874551"/>
          </a:xfrm>
          <a:custGeom>
            <a:avLst/>
            <a:gdLst>
              <a:gd name="connsiteX0" fmla="*/ 7123176 w 7123176"/>
              <a:gd name="connsiteY0" fmla="*/ 0 h 6949440"/>
              <a:gd name="connsiteX1" fmla="*/ 310896 w 7123176"/>
              <a:gd name="connsiteY1" fmla="*/ 694944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949440"/>
              <a:gd name="connsiteX1" fmla="*/ 979671 w 7123176"/>
              <a:gd name="connsiteY1" fmla="*/ 626128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261280"/>
              <a:gd name="connsiteX1" fmla="*/ 979671 w 7123176"/>
              <a:gd name="connsiteY1" fmla="*/ 6261280 h 6261280"/>
              <a:gd name="connsiteX2" fmla="*/ 0 w 7123176"/>
              <a:gd name="connsiteY2" fmla="*/ 6261280 h 6261280"/>
              <a:gd name="connsiteX3" fmla="*/ 0 w 7123176"/>
              <a:gd name="connsiteY3" fmla="*/ 0 h 6261280"/>
              <a:gd name="connsiteX4" fmla="*/ 82296 w 7123176"/>
              <a:gd name="connsiteY4" fmla="*/ 0 h 6261280"/>
              <a:gd name="connsiteX5" fmla="*/ 7123176 w 7123176"/>
              <a:gd name="connsiteY5" fmla="*/ 0 h 6261280"/>
              <a:gd name="connsiteX0" fmla="*/ 7123176 w 7123176"/>
              <a:gd name="connsiteY0" fmla="*/ 0 h 6265587"/>
              <a:gd name="connsiteX1" fmla="*/ 979671 w 7123176"/>
              <a:gd name="connsiteY1" fmla="*/ 6261280 h 6265587"/>
              <a:gd name="connsiteX2" fmla="*/ 0 w 7123176"/>
              <a:gd name="connsiteY2" fmla="*/ 6261280 h 6265587"/>
              <a:gd name="connsiteX3" fmla="*/ 0 w 7123176"/>
              <a:gd name="connsiteY3" fmla="*/ 0 h 6265587"/>
              <a:gd name="connsiteX4" fmla="*/ 82296 w 7123176"/>
              <a:gd name="connsiteY4" fmla="*/ 0 h 6265587"/>
              <a:gd name="connsiteX5" fmla="*/ 7123176 w 7123176"/>
              <a:gd name="connsiteY5" fmla="*/ 0 h 6265587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6128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  <a:gd name="connsiteX0" fmla="*/ 7123176 w 7123176"/>
              <a:gd name="connsiteY0" fmla="*/ 0 h 6293133"/>
              <a:gd name="connsiteX1" fmla="*/ 950593 w 7123176"/>
              <a:gd name="connsiteY1" fmla="*/ 6280708 h 6293133"/>
              <a:gd name="connsiteX2" fmla="*/ 0 w 7123176"/>
              <a:gd name="connsiteY2" fmla="*/ 6290422 h 6293133"/>
              <a:gd name="connsiteX3" fmla="*/ 0 w 7123176"/>
              <a:gd name="connsiteY3" fmla="*/ 0 h 6293133"/>
              <a:gd name="connsiteX4" fmla="*/ 82296 w 7123176"/>
              <a:gd name="connsiteY4" fmla="*/ 0 h 6293133"/>
              <a:gd name="connsiteX5" fmla="*/ 7123176 w 7123176"/>
              <a:gd name="connsiteY5" fmla="*/ 0 h 6293133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7456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3176" h="6280708">
                <a:moveTo>
                  <a:pt x="7123176" y="0"/>
                </a:moveTo>
                <a:lnTo>
                  <a:pt x="950593" y="6280708"/>
                </a:lnTo>
                <a:lnTo>
                  <a:pt x="0" y="6274560"/>
                </a:lnTo>
                <a:lnTo>
                  <a:pt x="0" y="0"/>
                </a:lnTo>
                <a:lnTo>
                  <a:pt x="82296" y="0"/>
                </a:lnTo>
                <a:lnTo>
                  <a:pt x="7123176" y="0"/>
                </a:lnTo>
                <a:close/>
              </a:path>
            </a:pathLst>
          </a:custGeom>
          <a:solidFill>
            <a:srgbClr val="0132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 descr="A logo on a black background&#10;&#10;Description automatically generated">
            <a:extLst>
              <a:ext uri="{FF2B5EF4-FFF2-40B4-BE49-F238E27FC236}">
                <a16:creationId xmlns:a16="http://schemas.microsoft.com/office/drawing/2014/main" id="{464B43B6-5307-EA12-18EA-2B295563B6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91" y="412253"/>
            <a:ext cx="2735261" cy="1526275"/>
          </a:xfrm>
          <a:prstGeom prst="rect">
            <a:avLst/>
          </a:prstGeom>
        </p:spPr>
      </p:pic>
      <p:pic>
        <p:nvPicPr>
          <p:cNvPr id="9" name="Picture 8" descr="A logo with colorful letters and a star&#10;&#10;Description automatically generated">
            <a:extLst>
              <a:ext uri="{FF2B5EF4-FFF2-40B4-BE49-F238E27FC236}">
                <a16:creationId xmlns:a16="http://schemas.microsoft.com/office/drawing/2014/main" id="{692A0F4B-5EA4-2A80-244A-6AABC745C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38" y="5765256"/>
            <a:ext cx="4315632" cy="7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35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78722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61821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2034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0148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2990EA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9452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1517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492122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21035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6229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B0F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33885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21D0F0-6684-55E6-641A-BFC21D620BF5}"/>
              </a:ext>
            </a:extLst>
          </p:cNvPr>
          <p:cNvSpPr/>
          <p:nvPr userDrawn="1"/>
        </p:nvSpPr>
        <p:spPr>
          <a:xfrm>
            <a:off x="-1" y="0"/>
            <a:ext cx="12192001" cy="6874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/>
              <a:t>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D1348-E7A8-CF70-5BB2-3C6A85CEA3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59668" y="856743"/>
            <a:ext cx="5865711" cy="2387600"/>
          </a:xfrm>
        </p:spPr>
        <p:txBody>
          <a:bodyPr anchor="b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C4D3A-C864-D5F7-A972-C5947DD27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79266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990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E3502E5-0A00-509E-6ACF-A8E942FFA31F}"/>
              </a:ext>
            </a:extLst>
          </p:cNvPr>
          <p:cNvSpPr/>
          <p:nvPr userDrawn="1"/>
        </p:nvSpPr>
        <p:spPr>
          <a:xfrm>
            <a:off x="-1" y="1"/>
            <a:ext cx="7814133" cy="6874551"/>
          </a:xfrm>
          <a:custGeom>
            <a:avLst/>
            <a:gdLst>
              <a:gd name="connsiteX0" fmla="*/ 7123176 w 7123176"/>
              <a:gd name="connsiteY0" fmla="*/ 0 h 6949440"/>
              <a:gd name="connsiteX1" fmla="*/ 310896 w 7123176"/>
              <a:gd name="connsiteY1" fmla="*/ 694944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949440"/>
              <a:gd name="connsiteX1" fmla="*/ 979671 w 7123176"/>
              <a:gd name="connsiteY1" fmla="*/ 626128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261280"/>
              <a:gd name="connsiteX1" fmla="*/ 979671 w 7123176"/>
              <a:gd name="connsiteY1" fmla="*/ 6261280 h 6261280"/>
              <a:gd name="connsiteX2" fmla="*/ 0 w 7123176"/>
              <a:gd name="connsiteY2" fmla="*/ 6261280 h 6261280"/>
              <a:gd name="connsiteX3" fmla="*/ 0 w 7123176"/>
              <a:gd name="connsiteY3" fmla="*/ 0 h 6261280"/>
              <a:gd name="connsiteX4" fmla="*/ 82296 w 7123176"/>
              <a:gd name="connsiteY4" fmla="*/ 0 h 6261280"/>
              <a:gd name="connsiteX5" fmla="*/ 7123176 w 7123176"/>
              <a:gd name="connsiteY5" fmla="*/ 0 h 6261280"/>
              <a:gd name="connsiteX0" fmla="*/ 7123176 w 7123176"/>
              <a:gd name="connsiteY0" fmla="*/ 0 h 6265587"/>
              <a:gd name="connsiteX1" fmla="*/ 979671 w 7123176"/>
              <a:gd name="connsiteY1" fmla="*/ 6261280 h 6265587"/>
              <a:gd name="connsiteX2" fmla="*/ 0 w 7123176"/>
              <a:gd name="connsiteY2" fmla="*/ 6261280 h 6265587"/>
              <a:gd name="connsiteX3" fmla="*/ 0 w 7123176"/>
              <a:gd name="connsiteY3" fmla="*/ 0 h 6265587"/>
              <a:gd name="connsiteX4" fmla="*/ 82296 w 7123176"/>
              <a:gd name="connsiteY4" fmla="*/ 0 h 6265587"/>
              <a:gd name="connsiteX5" fmla="*/ 7123176 w 7123176"/>
              <a:gd name="connsiteY5" fmla="*/ 0 h 6265587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6128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  <a:gd name="connsiteX0" fmla="*/ 7123176 w 7123176"/>
              <a:gd name="connsiteY0" fmla="*/ 0 h 6293133"/>
              <a:gd name="connsiteX1" fmla="*/ 950593 w 7123176"/>
              <a:gd name="connsiteY1" fmla="*/ 6280708 h 6293133"/>
              <a:gd name="connsiteX2" fmla="*/ 0 w 7123176"/>
              <a:gd name="connsiteY2" fmla="*/ 6290422 h 6293133"/>
              <a:gd name="connsiteX3" fmla="*/ 0 w 7123176"/>
              <a:gd name="connsiteY3" fmla="*/ 0 h 6293133"/>
              <a:gd name="connsiteX4" fmla="*/ 82296 w 7123176"/>
              <a:gd name="connsiteY4" fmla="*/ 0 h 6293133"/>
              <a:gd name="connsiteX5" fmla="*/ 7123176 w 7123176"/>
              <a:gd name="connsiteY5" fmla="*/ 0 h 6293133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7456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3176" h="6280708">
                <a:moveTo>
                  <a:pt x="7123176" y="0"/>
                </a:moveTo>
                <a:lnTo>
                  <a:pt x="950593" y="6280708"/>
                </a:lnTo>
                <a:lnTo>
                  <a:pt x="0" y="6274560"/>
                </a:lnTo>
                <a:lnTo>
                  <a:pt x="0" y="0"/>
                </a:lnTo>
                <a:lnTo>
                  <a:pt x="82296" y="0"/>
                </a:lnTo>
                <a:lnTo>
                  <a:pt x="7123176" y="0"/>
                </a:lnTo>
                <a:close/>
              </a:path>
            </a:pathLst>
          </a:custGeom>
          <a:solidFill>
            <a:srgbClr val="0132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 descr="A logo on a black background&#10;&#10;Description automatically generated">
            <a:extLst>
              <a:ext uri="{FF2B5EF4-FFF2-40B4-BE49-F238E27FC236}">
                <a16:creationId xmlns:a16="http://schemas.microsoft.com/office/drawing/2014/main" id="{464B43B6-5307-EA12-18EA-2B295563B6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91" y="412253"/>
            <a:ext cx="2735261" cy="1526275"/>
          </a:xfrm>
          <a:prstGeom prst="rect">
            <a:avLst/>
          </a:prstGeom>
        </p:spPr>
      </p:pic>
      <p:pic>
        <p:nvPicPr>
          <p:cNvPr id="9" name="Picture 8" descr="A logo with colorful letters and a star&#10;&#10;Description automatically generated">
            <a:extLst>
              <a:ext uri="{FF2B5EF4-FFF2-40B4-BE49-F238E27FC236}">
                <a16:creationId xmlns:a16="http://schemas.microsoft.com/office/drawing/2014/main" id="{692A0F4B-5EA4-2A80-244A-6AABC745C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38" y="5765256"/>
            <a:ext cx="4315632" cy="7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881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616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354659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34165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1542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2990EA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0693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Relationship Id="rId8" Type="http://schemas.openxmlformats.org/officeDocument/2006/relationships/image" Target="../media/image1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7" Type="http://schemas.openxmlformats.org/officeDocument/2006/relationships/image" Target="../media/image1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theme" Target="../theme/theme4.xml"/><Relationship Id="rId8" Type="http://schemas.openxmlformats.org/officeDocument/2006/relationships/image" Target="../media/image1.sv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theme" Target="../theme/theme5.xml"/><Relationship Id="rId7" Type="http://schemas.openxmlformats.org/officeDocument/2006/relationships/image" Target="../media/image1.sv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theme" Target="../theme/theme6.xml"/><Relationship Id="rId8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D612D-E5CF-B376-4299-2350DC9FEA2A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CB8BC9C-A12F-D5C0-C7B5-EDAC6584B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2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7" r:id="rId2"/>
    <p:sldLayoutId id="2147483668" r:id="rId3"/>
    <p:sldLayoutId id="2147483669" r:id="rId4"/>
    <p:sldLayoutId id="2147483670" r:id="rId5"/>
    <p:sldLayoutId id="2147483671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51610-5FD5-32C4-ED04-EE9D1D6F86DF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9119E4-772C-88F1-2CC5-E9057E42E3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8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7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2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B3410A-ADFE-ADA8-0F19-5215FFEDAA0C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5EB1D80-E5F9-67D9-C261-CC5269A26B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48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51610-5FD5-32C4-ED04-EE9D1D6F86DF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9119E4-772C-88F1-2CC5-E9057E42E3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55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2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B3410A-ADFE-ADA8-0F19-5215FFEDAA0C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5EB1D80-E5F9-67D9-C261-CC5269A26B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D612D-E5CF-B376-4299-2350DC9FEA2A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CB8BC9C-A12F-D5C0-C7B5-EDAC6584B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4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Learning what airlines actually prefer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1645920"/>
          </a:xfrm>
        </p:spPr>
        <p:txBody>
          <a:bodyPr/>
          <a:lstStyle/>
          <a:p>
            <a:r>
              <a:rPr sz="2600"/>
              <a:t>Every flight-plan revision records a choice the airline made — this</a:t>
            </a:r>
          </a:p>
          <a:p>
            <a:r>
              <a:t>is what those choices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534924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E6E6E"/>
                </a:solidFill>
                <a:latin typeface="Arial"/>
              </a:rPr>
              <a:t>EUROCONTROL Innovation Hub  ·  Maastricht Upper Area Control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goal: proposals airlines will actually accept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A cheaper route is not enough — </a:t>
            </a:r>
            <a:r>
              <a:rPr sz="2600" b="0">
                <a:solidFill>
                  <a:srgbClr val="2F2F2F"/>
                </a:solidFill>
                <a:latin typeface="Arial"/>
              </a:rPr>
              <a:t>If the airline would not have chosen it, the proposal is ignored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30297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304800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The system must learn preference — </a:t>
            </a:r>
            <a:r>
              <a:rPr sz="2600" b="0">
                <a:solidFill>
                  <a:srgbClr val="2F2F2F"/>
                </a:solidFill>
                <a:latin typeface="Arial"/>
              </a:rPr>
              <a:t>Not just minimise fuel or time, but predict which route this airline would accept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43403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435864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Preference is learned, not assumed — </a:t>
            </a:r>
            <a:r>
              <a:rPr sz="2600" b="0">
                <a:solidFill>
                  <a:srgbClr val="2F2F2F"/>
                </a:solidFill>
                <a:latin typeface="Arial"/>
              </a:rPr>
              <a:t>From what airlines have actually chosen before, not from a cost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An ignored proposal channel is a channel that eventually gets switched 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Pairs, not sets</a:t>
            </a:r>
          </a:p>
        </p:txBody>
      </p:sp>
      <p:pic>
        <p:nvPicPr>
          <p:cNvPr id="3" name="Picture 2" descr="pair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094373"/>
            <a:ext cx="10515600" cy="28064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Earlier work compared the filed route to a SET of generated alternatives. This work compares PAIRS from real revisions instead.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revision is a trade</a:t>
            </a:r>
          </a:p>
        </p:txBody>
      </p:sp>
      <p:pic>
        <p:nvPicPr>
          <p:cNvPr id="3" name="Picture 2" descr="map_e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122" y="1691640"/>
            <a:ext cx="3707180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Amsterdam → Barcelona: 39 extra minutes and 1.4 tonnes of fuel to avoid 102 minutes of network delay.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every revision is about delay</a:t>
            </a:r>
          </a:p>
        </p:txBody>
      </p:sp>
      <p:pic>
        <p:nvPicPr>
          <p:cNvPr id="3" name="Picture 2" descr="map_sa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293" y="1691640"/>
            <a:ext cx="7274837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No regulation involved — the operator identified a cheaper route and filed it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archive records</a:t>
            </a:r>
          </a:p>
        </p:txBody>
      </p:sp>
      <p:pic>
        <p:nvPicPr>
          <p:cNvPr id="3" name="Picture 2" descr="fig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17" y="1691640"/>
            <a:ext cx="8165989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Most route changes are routine — not the dramatic cases just shown.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cost rule is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Take a held-out pair — </a:t>
            </a:r>
            <a:r>
              <a:rPr sz="2600" b="0">
                <a:solidFill>
                  <a:srgbClr val="2F2F2F"/>
                </a:solidFill>
                <a:latin typeface="Arial"/>
              </a:rPr>
              <a:t>Two real routes from one revision, never used to train anything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27020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72034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Apply the rule — </a:t>
            </a:r>
            <a:r>
              <a:rPr sz="2600" b="0">
                <a:solidFill>
                  <a:srgbClr val="2F2F2F"/>
                </a:solidFill>
                <a:latin typeface="Arial"/>
              </a:rPr>
              <a:t>For example, “prefer less fuel” — the rule always picks one of the two 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368503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370332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Compare to what happened — </a:t>
            </a:r>
            <a:r>
              <a:rPr sz="2600" b="0">
                <a:solidFill>
                  <a:srgbClr val="2F2F2F"/>
                </a:solidFill>
                <a:latin typeface="Arial"/>
              </a:rPr>
              <a:t>Did the rule's pick match the route the airline actually filed?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46680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468630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04   </a:t>
            </a:r>
            <a:r>
              <a:rPr sz="2600" b="1">
                <a:solidFill>
                  <a:srgbClr val="2F2F2F"/>
                </a:solidFill>
                <a:latin typeface="Arial"/>
              </a:rPr>
              <a:t>Accuracy = share correct — </a:t>
            </a:r>
            <a:r>
              <a:rPr sz="2600" b="0">
                <a:solidFill>
                  <a:srgbClr val="2F2F2F"/>
                </a:solidFill>
                <a:latin typeface="Arial"/>
              </a:rPr>
              <a:t>Across all such pairs, “prefer less fuel” is right only 44.9% of the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The same test, repeated for every rule in the next chart — only one beats a coin flip.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rules score below chance</a:t>
            </a:r>
          </a:p>
        </p:txBody>
      </p:sp>
      <p:pic>
        <p:nvPicPr>
          <p:cNvPr id="3" name="Picture 2" descr="fig_heu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36" y="1691640"/>
            <a:ext cx="8008951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Simple cost rules all underperform a coin flip. Only “avoid delay” helps.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works, start to finish</a:t>
            </a:r>
          </a:p>
        </p:txBody>
      </p:sp>
      <p:pic>
        <p:nvPicPr>
          <p:cNvPr id="3" name="Picture 2" descr="fig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78" y="1691640"/>
            <a:ext cx="10387268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Revisions and stay pairs both become training examples. The model learns the pattern and estimates its own confidence.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datasets, two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1508760"/>
            <a:ext cx="10515600" cy="2034540"/>
          </a:xfrm>
          <a:prstGeom prst="rect">
            <a:avLst/>
          </a:prstGeom>
          <a:solidFill>
            <a:srgbClr val="F6F5F3"/>
          </a:solidFill>
          <a:ln w="12700">
            <a:solidFill>
              <a:srgbClr val="CB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8952" y="1691640"/>
            <a:ext cx="822960" cy="50800"/>
          </a:xfrm>
          <a:prstGeom prst="rect">
            <a:avLst/>
          </a:prstGeom>
          <a:solidFill>
            <a:srgbClr val="8BB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4650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F2F2F"/>
                </a:solidFill>
                <a:latin typeface="Arial"/>
              </a:rPr>
              <a:t>Revision pairs  —  884,000 pairs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21992"/>
            <a:ext cx="9875520" cy="1248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E6E6E"/>
                </a:solidFill>
                <a:latin typeface="Arial"/>
              </a:rPr>
              <a:t>One flight refiles: it files route A, then switches to route B before departure. The pair is (A, B) — which did the airline pick?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3680460"/>
            <a:ext cx="10515600" cy="2034540"/>
          </a:xfrm>
          <a:prstGeom prst="rect">
            <a:avLst/>
          </a:prstGeom>
          <a:solidFill>
            <a:srgbClr val="F6F5F3"/>
          </a:solidFill>
          <a:ln w="12700">
            <a:solidFill>
              <a:srgbClr val="CB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3863340"/>
            <a:ext cx="822960" cy="50800"/>
          </a:xfrm>
          <a:prstGeom prst="rect">
            <a:avLst/>
          </a:prstGeom>
          <a:solidFill>
            <a:srgbClr val="009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91820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F2F2F"/>
                </a:solidFill>
                <a:latin typeface="Arial"/>
              </a:rPr>
              <a:t>Stay pairs  —  6,672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93692"/>
            <a:ext cx="9875520" cy="1248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E6E6E"/>
                </a:solidFill>
                <a:latin typeface="Arial"/>
              </a:rPr>
              <a:t>Two flights, same day, same route choice. One was hit by a regulation, had a real alternative (its twin's route), and stayed. Pair: (kept, declined).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5852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Both feed one model — stay pairs count 10× each to offset being 132× rarer, then held out to test the fix.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stay pair, concretely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Two flights, same day, same city pair — </a:t>
            </a:r>
            <a:r>
              <a:rPr sz="2600" b="0">
                <a:solidFill>
                  <a:srgbClr val="2F2F2F"/>
                </a:solidFill>
                <a:latin typeface="Arial"/>
              </a:rPr>
              <a:t>Same origin, destination, and aircraft type — but different routes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27020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72034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One flight was delayed; its twin was not — </a:t>
            </a:r>
            <a:r>
              <a:rPr sz="2600" b="0">
                <a:solidFill>
                  <a:srgbClr val="2F2F2F"/>
                </a:solidFill>
                <a:latin typeface="Arial"/>
              </a:rPr>
              <a:t>The twin's route is a real, demonstrated alternative — flown that same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368503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370332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The delayed flight kept its route anyway — </a:t>
            </a:r>
            <a:r>
              <a:rPr sz="2600" b="0">
                <a:solidFill>
                  <a:srgbClr val="2F2F2F"/>
                </a:solidFill>
                <a:latin typeface="Arial"/>
              </a:rPr>
              <a:t>Its route is labelled preferred; the twin's route is the declined alternative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46680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468630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04   </a:t>
            </a:r>
            <a:r>
              <a:rPr sz="2600" b="1">
                <a:solidFill>
                  <a:srgbClr val="2F2F2F"/>
                </a:solidFill>
                <a:latin typeface="Arial"/>
              </a:rPr>
              <a:t>This happened despite the cost — </a:t>
            </a:r>
            <a:r>
              <a:rPr sz="2600" b="0">
                <a:solidFill>
                  <a:srgbClr val="2F2F2F"/>
                </a:solidFill>
                <a:latin typeface="Arial"/>
              </a:rPr>
              <a:t>Across all 6,672 such pairs: median peak delay 31 minutes, and 47.5% kept the pricier route in fuel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Real evidence that operators value stability itself — exactly what an over-eager model would violate.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bias test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Find two similar flights, same day — </a:t>
            </a:r>
            <a:r>
              <a:rPr sz="2600" b="0">
                <a:solidFill>
                  <a:srgbClr val="2F2F2F"/>
                </a:solidFill>
                <a:latin typeface="Arial"/>
              </a:rPr>
              <a:t>Same origin, destination, aircraft type — one delayed, one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27020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72034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The delayed flight had a reason to move — </a:t>
            </a:r>
            <a:r>
              <a:rPr sz="2600" b="0">
                <a:solidFill>
                  <a:srgbClr val="2F2F2F"/>
                </a:solidFill>
                <a:latin typeface="Arial"/>
              </a:rPr>
              <a:t>Its twin's route was a real, demonstrated alternative — and it stayed anyway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368503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370332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Label “stayed” as the preferred route — </a:t>
            </a:r>
            <a:r>
              <a:rPr sz="2600" b="0">
                <a:solidFill>
                  <a:srgbClr val="2F2F2F"/>
                </a:solidFill>
                <a:latin typeface="Arial"/>
              </a:rPr>
              <a:t>Delay features are hidden, so route geometry alone must decide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46680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468630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04   </a:t>
            </a:r>
            <a:r>
              <a:rPr sz="2600" b="1">
                <a:solidFill>
                  <a:srgbClr val="2F2F2F"/>
                </a:solidFill>
                <a:latin typeface="Arial"/>
              </a:rPr>
              <a:t>Score it without seeing delay — </a:t>
            </a:r>
            <a:r>
              <a:rPr sz="2600" b="0">
                <a:solidFill>
                  <a:srgbClr val="2F2F2F"/>
                </a:solidFill>
                <a:latin typeface="Arial"/>
              </a:rPr>
              <a:t>Before this fix, the answer was 45.7% — worse than chance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This is the regulation-blind test behind the next chart — the fix raises this to 57.3%.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Correcting a bias toward change</a:t>
            </a:r>
          </a:p>
        </p:txBody>
      </p:sp>
      <p:pic>
        <p:nvPicPr>
          <p:cNvPr id="3" name="Picture 2" descr="fig_stay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48074"/>
            <a:ext cx="10515600" cy="3299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With regulation clues hidden, route-only accuracy on stay pairs: 45.7% before correction, 57.3% after.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model sees differences, not totals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Routes in different pairs vary hugely in scale — </a:t>
            </a:r>
            <a:r>
              <a:rPr sz="2600" b="0">
                <a:solidFill>
                  <a:srgbClr val="2F2F2F"/>
                </a:solidFill>
                <a:latin typeface="Arial"/>
              </a:rPr>
              <a:t>A short regional hop and a long intercontinental sector burn very different absolute fuel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30297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304800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So each indicator is rebased to its own pair — </a:t>
            </a:r>
            <a:r>
              <a:rPr sz="2600" b="0">
                <a:solidFill>
                  <a:srgbClr val="2F2F2F"/>
                </a:solidFill>
                <a:latin typeface="Arial"/>
              </a:rPr>
              <a:t>Subtract the pair's minimum from both routes — the cheaper one becomes 0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43403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435864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The model sees only the extra, not the total — </a:t>
            </a:r>
            <a:r>
              <a:rPr sz="2600" b="0">
                <a:solidFill>
                  <a:srgbClr val="2F2F2F"/>
                </a:solidFill>
                <a:latin typeface="Arial"/>
              </a:rPr>
              <a:t>0 kg and 300 kg, not 2,000 kg and 2,300 kg — the gap that actually drove the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Skip this step, and the next chart shows exactly what it costs.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one choice that changes everything</a:t>
            </a:r>
          </a:p>
        </p:txBody>
      </p:sp>
      <p:pic>
        <p:nvPicPr>
          <p:cNvPr id="3" name="Picture 2" descr="fig_norm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1691640"/>
            <a:ext cx="9390888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2,000 kg alone is meaningless; the 300 kg gap is everything. Drop it: accuracy falls to chance (60.6% → 50.8%).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accuracy and confidence are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Score both routes in a held-out pair — </a:t>
            </a:r>
            <a:r>
              <a:rPr sz="2600" b="0">
                <a:solidFill>
                  <a:srgbClr val="2F2F2F"/>
                </a:solidFill>
                <a:latin typeface="Arial"/>
              </a:rPr>
              <a:t>Never used in training, tuning, or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27020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72034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Correct = higher score matches the choice — </a:t>
            </a:r>
            <a:r>
              <a:rPr sz="2600" b="0">
                <a:solidFill>
                  <a:srgbClr val="2F2F2F"/>
                </a:solidFill>
                <a:latin typeface="Arial"/>
              </a:rPr>
              <a:t>Accuracy is this, averaged across all pairs: 68.3% overall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368503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370332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The score gap is a confidence signal — </a:t>
            </a:r>
            <a:r>
              <a:rPr sz="2600" b="0">
                <a:solidFill>
                  <a:srgbClr val="2F2F2F"/>
                </a:solidFill>
                <a:latin typeface="Arial"/>
              </a:rPr>
              <a:t>A bigger gap between the two scores means a more confident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46680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468630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04   </a:t>
            </a:r>
            <a:r>
              <a:rPr sz="2600" b="1">
                <a:solidFill>
                  <a:srgbClr val="2F2F2F"/>
                </a:solidFill>
                <a:latin typeface="Arial"/>
              </a:rPr>
              <a:t>Coverage = share of cases answered — </a:t>
            </a:r>
            <a:r>
              <a:rPr sz="2600" b="0">
                <a:solidFill>
                  <a:srgbClr val="2F2F2F"/>
                </a:solidFill>
                <a:latin typeface="Arial"/>
              </a:rPr>
              <a:t>Answering only the surest fifth raises accuracy to 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The same measure drives both charts that follow.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headline, and the curve behind it</a:t>
            </a:r>
          </a:p>
        </p:txBody>
      </p:sp>
      <p:pic>
        <p:nvPicPr>
          <p:cNvPr id="3" name="Picture 2" descr="fi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007" y="1691640"/>
            <a:ext cx="5835409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68.3% accuracy across all cases; 95% on the most confident fifth.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accuracy lives</a:t>
            </a:r>
          </a:p>
        </p:txBody>
      </p:sp>
      <p:pic>
        <p:nvPicPr>
          <p:cNvPr id="3" name="Picture 2" descr="fig_str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36" y="1691640"/>
            <a:ext cx="8008951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Accuracy rises with the delay being avoided — the larger the</a:t>
            </a:r>
          </a:p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incentive, the clearer the decision.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feature importance is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Treat each input as a player in a game — </a:t>
            </a:r>
            <a:r>
              <a:rPr sz="2600" b="0">
                <a:solidFill>
                  <a:srgbClr val="2F2F2F"/>
                </a:solidFill>
                <a:latin typeface="Arial"/>
              </a:rPr>
              <a:t>Route, fuel, delay, distance, and every other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27020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72034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The payout is the model's score — </a:t>
            </a:r>
            <a:r>
              <a:rPr sz="2600" b="0">
                <a:solidFill>
                  <a:srgbClr val="2F2F2F"/>
                </a:solidFill>
                <a:latin typeface="Arial"/>
              </a:rPr>
              <a:t>For one specific route, on one specific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368503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370332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Add features one at a time, in random order — </a:t>
            </a:r>
            <a:r>
              <a:rPr sz="2600" b="0">
                <a:solidFill>
                  <a:srgbClr val="2F2F2F"/>
                </a:solidFill>
                <a:latin typeface="Arial"/>
              </a:rPr>
              <a:t>Measure how much the score moves each time one joins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46680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468630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04   </a:t>
            </a:r>
            <a:r>
              <a:rPr sz="2600" b="1">
                <a:solidFill>
                  <a:srgbClr val="2F2F2F"/>
                </a:solidFill>
                <a:latin typeface="Arial"/>
              </a:rPr>
              <a:t>Average that movement over the quarter — </a:t>
            </a:r>
            <a:r>
              <a:rPr sz="2600" b="0">
                <a:solidFill>
                  <a:srgbClr val="2F2F2F"/>
                </a:solidFill>
                <a:latin typeface="Arial"/>
              </a:rPr>
              <a:t>Each feature's fair share of the credit — route structure earns the most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This ranks what moves the score, not what an operator consciously weighs.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drives the model’s decisions</a:t>
            </a:r>
          </a:p>
        </p:txBody>
      </p:sp>
      <p:pic>
        <p:nvPicPr>
          <p:cNvPr id="3" name="Picture 2" descr="fig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755" y="1691640"/>
            <a:ext cx="4851913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Route structure carries more weight than any single cost</a:t>
            </a:r>
          </a:p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indicator — fuel, time, or distance.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score becomes a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The model scores each candidate route — </a:t>
            </a:r>
            <a:r>
              <a:rPr sz="2600" b="0">
                <a:solidFill>
                  <a:srgbClr val="2F2F2F"/>
                </a:solidFill>
                <a:latin typeface="Arial"/>
              </a:rPr>
              <a:t>The alternative comes out +3.6 ahead — just the model's own number, not yet a percentage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30297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304800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History says how sure to be — </a:t>
            </a:r>
            <a:r>
              <a:rPr sz="2600" b="0">
                <a:solidFill>
                  <a:srgbClr val="2F2F2F"/>
                </a:solidFill>
                <a:latin typeface="Arial"/>
              </a:rPr>
              <a:t>Among past cases with a lead about this big, the airline picked the model's suggestion 8 times out of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43403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435864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Only propose if that clears the bar — </a:t>
            </a:r>
            <a:r>
              <a:rPr sz="2600" b="0">
                <a:solidFill>
                  <a:srgbClr val="2F2F2F"/>
                </a:solidFill>
                <a:latin typeface="Arial"/>
              </a:rPr>
              <a:t>The policy requires at least 6 of 10; 8 of 10 clears it, and it only counts as confirmed once the airline's later filing agrees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This is the policy behind every fuel figure in this talk.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count behind that probability</a:t>
            </a:r>
          </a:p>
        </p:txBody>
      </p:sp>
      <p:pic>
        <p:nvPicPr>
          <p:cNvPr id="3" name="Picture 2" descr="fig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" y="1691640"/>
            <a:ext cx="10434320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That's the whole mechanism — real past cases, counted, compared against the bar the policy requires.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a score to a decision</a:t>
            </a:r>
          </a:p>
        </p:txBody>
      </p:sp>
      <p:pic>
        <p:nvPicPr>
          <p:cNvPr id="3" name="Picture 2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57" y="1691640"/>
            <a:ext cx="6091509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More confidence required means fewer suggestions but better precision. At this threshold: 16.4 kt fuel a quarter, ~200 kt CO₂/yr.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proposal, concretely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Two candidate routes — </a:t>
            </a:r>
            <a:r>
              <a:rPr sz="2600" b="0">
                <a:solidFill>
                  <a:srgbClr val="2F2F2F"/>
                </a:solidFill>
                <a:latin typeface="Arial"/>
              </a:rPr>
              <a:t>Same airline, aircraft, and departure time — no delay involved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27020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72034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Comparison — </a:t>
            </a:r>
            <a:r>
              <a:rPr sz="2600" b="0">
                <a:solidFill>
                  <a:srgbClr val="2F2F2F"/>
                </a:solidFill>
                <a:latin typeface="Arial"/>
              </a:rPr>
              <a:t>One route burns 2,016 kg less fuel — roughly a fifth of trip fuel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368503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370332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Confidence check — </a:t>
            </a:r>
            <a:r>
              <a:rPr sz="2600" b="0">
                <a:solidFill>
                  <a:srgbClr val="2F2F2F"/>
                </a:solidFill>
                <a:latin typeface="Arial"/>
              </a:rPr>
              <a:t>This case clears the threshold set for an 80%-precision 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46680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468630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04   </a:t>
            </a:r>
            <a:r>
              <a:rPr sz="2600" b="1">
                <a:solidFill>
                  <a:srgbClr val="2F2F2F"/>
                </a:solidFill>
                <a:latin typeface="Arial"/>
              </a:rPr>
              <a:t>Outcome — </a:t>
            </a:r>
            <a:r>
              <a:rPr sz="2600" b="0">
                <a:solidFill>
                  <a:srgbClr val="2F2F2F"/>
                </a:solidFill>
                <a:latin typeface="Arial"/>
              </a:rPr>
              <a:t>The airline's later filing matched the suggested route exactly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One case from the test period, followed start to finish.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value sits</a:t>
            </a:r>
          </a:p>
        </p:txBody>
      </p:sp>
      <p:pic>
        <p:nvPicPr>
          <p:cNvPr id="3" name="Picture 2" descr="fig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639" y="1691640"/>
            <a:ext cx="5766146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Six of 815 airlines account for half of the confirmed fuel;</a:t>
            </a:r>
          </a:p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28 account for four-fifths.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ageing test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Shift the whole design back one year — </a:t>
            </a:r>
            <a:r>
              <a:rPr sz="2600" b="0">
                <a:solidFill>
                  <a:srgbClr val="2F2F2F"/>
                </a:solidFill>
                <a:latin typeface="Arial"/>
              </a:rPr>
              <a:t>Train through October 2025 instead of February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27020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72034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Freeze everything at the cutoff — </a:t>
            </a:r>
            <a:r>
              <a:rPr sz="2600" b="0">
                <a:solidFill>
                  <a:srgbClr val="2F2F2F"/>
                </a:solidFill>
                <a:latin typeface="Arial"/>
              </a:rPr>
              <a:t>Same threshold, same calibration — no peeking at 2026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368503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370332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Score month by month, unmodified — </a:t>
            </a:r>
            <a:r>
              <a:rPr sz="2600" b="0">
                <a:solidFill>
                  <a:srgbClr val="2F2F2F"/>
                </a:solidFill>
                <a:latin typeface="Arial"/>
              </a:rPr>
              <a:t>January through June 2026, one month at a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46680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4686300"/>
            <a:ext cx="10515600" cy="9829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04   </a:t>
            </a:r>
            <a:r>
              <a:rPr sz="2600" b="1">
                <a:solidFill>
                  <a:srgbClr val="2F2F2F"/>
                </a:solidFill>
                <a:latin typeface="Arial"/>
              </a:rPr>
              <a:t>Compare to the fresh model on the same months — </a:t>
            </a:r>
            <a:r>
              <a:rPr sz="2600" b="0">
                <a:solidFill>
                  <a:srgbClr val="2F2F2F"/>
                </a:solidFill>
                <a:latin typeface="Arial"/>
              </a:rPr>
              <a:t>Isolates pure ageing — precision barely moves, as the next chart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The result: precision holds at 77-79% even six months out.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fast does the model age?</a:t>
            </a:r>
          </a:p>
        </p:txBody>
      </p:sp>
      <p:pic>
        <p:nvPicPr>
          <p:cNvPr id="3" name="Picture 2" descr="fig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57" y="1691640"/>
            <a:ext cx="6091509" cy="3611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440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Precision holds steady (77-79%) six months on; it simply proposes less. Retraining recovers the 1-3 points that drift costs.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learns from what airlines did, not what they would say they prefer</a:t>
            </a:r>
          </a:p>
          <a:p>
            <a:r>
              <a:t>Only flights that changed are observed; those that stayed are not</a:t>
            </a:r>
          </a:p>
          <a:p>
            <a:r>
              <a:t>Every fuel figure is planned fuel, not fuel actually burned</a:t>
            </a:r>
          </a:p>
          <a:p>
            <a:r>
              <a:t>Cases where a better route was never proposed are invisible to this data</a:t>
            </a:r>
          </a:p>
          <a:p>
            <a:r>
              <a:t>A suggestion is only as reliable as the traffic picture it is computed against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Deployed and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73736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01   </a:t>
            </a:r>
            <a:r>
              <a:rPr sz="2600" b="1">
                <a:solidFill>
                  <a:srgbClr val="2F2F2F"/>
                </a:solidFill>
                <a:latin typeface="Arial"/>
              </a:rPr>
              <a:t>Registered and version-controlled — </a:t>
            </a:r>
            <a:r>
              <a:rPr sz="2600" b="0">
                <a:solidFill>
                  <a:srgbClr val="2F2F2F"/>
                </a:solidFill>
                <a:latin typeface="Arial"/>
              </a:rPr>
              <a:t>MLflow Model Registry, Unity Catalog, on MUAC's Databricks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302971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304800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02   </a:t>
            </a:r>
            <a:r>
              <a:rPr sz="2600" b="1">
                <a:solidFill>
                  <a:srgbClr val="2F2F2F"/>
                </a:solidFill>
                <a:latin typeface="Arial"/>
              </a:rPr>
              <a:t>Live REST endpoint — </a:t>
            </a:r>
            <a:r>
              <a:rPr sz="2600" b="0">
                <a:solidFill>
                  <a:srgbClr val="2F2F2F"/>
                </a:solidFill>
                <a:latin typeface="Arial"/>
              </a:rPr>
              <a:t>Scores real candidate route sets on request; scales to zero when idle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4340352"/>
            <a:ext cx="10515600" cy="12700"/>
          </a:xfrm>
          <a:prstGeom prst="rect">
            <a:avLst/>
          </a:prstGeom>
          <a:solidFill>
            <a:srgbClr val="CB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4358640"/>
            <a:ext cx="10515600" cy="131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09CD7"/>
                </a:solidFill>
                <a:latin typeface="Arial"/>
              </a:rPr>
              <a:t>03   </a:t>
            </a:r>
            <a:r>
              <a:rPr sz="2600" b="1">
                <a:solidFill>
                  <a:srgbClr val="2F2F2F"/>
                </a:solidFill>
                <a:latin typeface="Arial"/>
              </a:rPr>
              <a:t>Ready for the next step — </a:t>
            </a:r>
            <a:r>
              <a:rPr sz="2600" b="0">
                <a:solidFill>
                  <a:srgbClr val="2F2F2F"/>
                </a:solidFill>
                <a:latin typeface="Arial"/>
              </a:rPr>
              <a:t>A live shadow-mode trial is what would confirm real-world acceptance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The scoring system is live today — the next step is a trial in front of real dispatchers.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full analysis is documented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207" y="1920240"/>
            <a:ext cx="4892040" cy="3474720"/>
          </a:xfrm>
          <a:prstGeom prst="rect">
            <a:avLst/>
          </a:prstGeom>
          <a:solidFill>
            <a:srgbClr val="F6F5F3"/>
          </a:solidFill>
          <a:ln w="12700">
            <a:solidFill>
              <a:srgbClr val="CB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247" y="2240280"/>
            <a:ext cx="822960" cy="50800"/>
          </a:xfrm>
          <a:prstGeom prst="rect">
            <a:avLst/>
          </a:prstGeom>
          <a:solidFill>
            <a:srgbClr val="8BB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5247" y="251460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F2F2F"/>
                </a:solidFill>
                <a:latin typeface="Arial"/>
              </a:rPr>
              <a:t>SESAR Innovation Days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247" y="3794760"/>
            <a:ext cx="4251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E6E6E"/>
                </a:solidFill>
                <a:latin typeface="Arial"/>
              </a:rPr>
              <a:t>Presented</a:t>
            </a:r>
          </a:p>
          <a:p>
            <a:pPr algn="l"/>
            <a:r>
              <a:rPr sz="2600" b="0" i="0">
                <a:solidFill>
                  <a:srgbClr val="6E6E6E"/>
                </a:solidFill>
                <a:latin typeface="Arial"/>
              </a:rPr>
              <a:t>Conference-length 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920240"/>
            <a:ext cx="4892040" cy="3474720"/>
          </a:xfrm>
          <a:prstGeom prst="rect">
            <a:avLst/>
          </a:prstGeom>
          <a:solidFill>
            <a:srgbClr val="F6F5F3"/>
          </a:solidFill>
          <a:ln w="12700">
            <a:solidFill>
              <a:srgbClr val="CB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44487" y="2240280"/>
            <a:ext cx="822960" cy="50800"/>
          </a:xfrm>
          <a:prstGeom prst="rect">
            <a:avLst/>
          </a:prstGeom>
          <a:solidFill>
            <a:srgbClr val="009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487" y="2514600"/>
            <a:ext cx="4251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F2F2F"/>
                </a:solidFill>
                <a:latin typeface="Arial"/>
              </a:rPr>
              <a:t>Transportation Research</a:t>
            </a:r>
          </a:p>
          <a:p>
            <a:pPr algn="l"/>
            <a:r>
              <a:rPr sz="2600" b="1" i="0">
                <a:solidFill>
                  <a:srgbClr val="2F2F2F"/>
                </a:solidFill>
                <a:latin typeface="Arial"/>
              </a:rPr>
              <a:t>Part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3794760"/>
            <a:ext cx="4251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E6E6E"/>
                </a:solidFill>
                <a:latin typeface="Arial"/>
              </a:rPr>
              <a:t>In preparation</a:t>
            </a:r>
          </a:p>
          <a:p>
            <a:pPr algn="l"/>
            <a:r>
              <a:rPr sz="2600" b="0" i="0">
                <a:solidFill>
                  <a:srgbClr val="6E6E6E"/>
                </a:solidFill>
                <a:latin typeface="Arial"/>
              </a:rPr>
              <a:t>Full results and limitations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1097280"/>
          </a:xfrm>
        </p:spPr>
        <p:txBody>
          <a:bodyPr/>
          <a:lstStyle/>
          <a:p>
            <a:r>
              <a:rPr sz="2600"/>
              <a:t>EUROCONTROL Innovation Hub  ·  Maastricht Upper Area Control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B61D0021-C8D6-4A47-9756-1AC2716BF8BE}"/>
    </a:ext>
  </a:extLst>
</a:theme>
</file>

<file path=ppt/theme/theme2.xml><?xml version="1.0" encoding="utf-8"?>
<a:theme xmlns:a="http://schemas.openxmlformats.org/drawingml/2006/main" name="Office Theme">
  <a:themeElements>
    <a:clrScheme name="CORPORATE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1A3565"/>
      </a:accent1>
      <a:accent2>
        <a:srgbClr val="009CD7"/>
      </a:accent2>
      <a:accent3>
        <a:srgbClr val="8BB53A"/>
      </a:accent3>
      <a:accent4>
        <a:srgbClr val="FF2600"/>
      </a:accent4>
      <a:accent5>
        <a:srgbClr val="FF9500"/>
      </a:accent5>
      <a:accent6>
        <a:srgbClr val="FFC200"/>
      </a:accent6>
      <a:hlink>
        <a:srgbClr val="DB00A9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DC488F61-DB91-4C1E-8F50-49BBBF7F7FB6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59FA8B14-B6E4-4EA8-85F1-4DBAB567FB47}"/>
    </a:ext>
  </a:extLst>
</a:theme>
</file>

<file path=ppt/theme/theme4.xml><?xml version="1.0" encoding="utf-8"?>
<a:theme xmlns:a="http://schemas.openxmlformats.org/drawingml/2006/main" name="3_Office Theme">
  <a:themeElements>
    <a:clrScheme name="CORPORATE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1A3565"/>
      </a:accent1>
      <a:accent2>
        <a:srgbClr val="009CD7"/>
      </a:accent2>
      <a:accent3>
        <a:srgbClr val="8BB53A"/>
      </a:accent3>
      <a:accent4>
        <a:srgbClr val="FF2600"/>
      </a:accent4>
      <a:accent5>
        <a:srgbClr val="FF9500"/>
      </a:accent5>
      <a:accent6>
        <a:srgbClr val="FFC200"/>
      </a:accent6>
      <a:hlink>
        <a:srgbClr val="DB00A9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0869B9FE-7F9F-47FC-9E30-7743DFED470F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225F0C29-42B8-4D78-BC33-32C7E81933F5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49078001-7B3B-4973-9E23-7FB3B4A8DBB5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CDocOwner xmlns="4d475fc6-566e-42cf-b398-8efb44d73ac7">
      <UserInfo>
        <DisplayName>PASQUINI Lucia</DisplayName>
        <AccountId>191</AccountId>
        <AccountType/>
      </UserInfo>
    </ECDocOwner>
    <ECLanguage xmlns="4d475fc6-566e-42cf-b398-8efb44d73ac7">English</ECLanguage>
    <ECDocumentType xmlns="4d475fc6-566e-42cf-b398-8efb44d73ac7">Document</ECDocumentType>
    <lcf76f155ced4ddcb4097134ff3c332f xmlns="84f19ed6-bc38-43f5-b20b-5afa09cb8ec7">
      <Terms xmlns="http://schemas.microsoft.com/office/infopath/2007/PartnerControls"/>
    </lcf76f155ced4ddcb4097134ff3c332f>
    <ECBusinessAreaNote xmlns="4d475fc6-566e-42cf-b398-8efb44d73ac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Communications</TermName>
          <TermId xmlns="http://schemas.microsoft.com/office/infopath/2007/PartnerControls">6c843ef0-6bc6-4aa4-acd8-4d1d2bf0ef0a</TermId>
        </TermInfo>
      </Terms>
    </ECBusinessAreaNote>
    <Modifiedby xmlns="84f19ed6-bc38-43f5-b20b-5afa09cb8ec7">
      <UserInfo>
        <DisplayName/>
        <AccountId xsi:nil="true"/>
        <AccountType/>
      </UserInfo>
    </Modifiedby>
    <TaxCatchAll xmlns="4d475fc6-566e-42cf-b398-8efb44d73ac7">
      <Value>404</Value>
      <Value>16</Value>
    </TaxCatchAll>
    <TaxCatchAllLabel xmlns="4d475fc6-566e-42cf-b398-8efb44d73ac7" xsi:nil="true"/>
    <ECKeywordsNote xmlns="4d475fc6-566e-42cf-b398-8efb44d73ac7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template</TermName>
          <TermId xmlns="http://schemas.microsoft.com/office/infopath/2007/PartnerControls">a56de906-8def-4668-842e-deaef96688ed</TermId>
        </TermInfo>
      </Terms>
    </ECKeywordsNote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ECDocument" ma:contentTypeID="0x010100CEFBA9774AC9B7469FBCCFCC8580DDA400E4B157B1C699764E8891FBB217837A00" ma:contentTypeVersion="32" ma:contentTypeDescription="Eurocontrol Document" ma:contentTypeScope="" ma:versionID="08a40e3a9214fbcd45da2c4f8158bf53">
  <xsd:schema xmlns:xsd="http://www.w3.org/2001/XMLSchema" xmlns:xs="http://www.w3.org/2001/XMLSchema" xmlns:p="http://schemas.microsoft.com/office/2006/metadata/properties" xmlns:ns2="4d475fc6-566e-42cf-b398-8efb44d73ac7" xmlns:ns3="84f19ed6-bc38-43f5-b20b-5afa09cb8ec7" targetNamespace="http://schemas.microsoft.com/office/2006/metadata/properties" ma:root="true" ma:fieldsID="2578a68297ac1e6d6de1d2fb029e722d" ns2:_="" ns3:_="">
    <xsd:import namespace="4d475fc6-566e-42cf-b398-8efb44d73ac7"/>
    <xsd:import namespace="84f19ed6-bc38-43f5-b20b-5afa09cb8ec7"/>
    <xsd:element name="properties">
      <xsd:complexType>
        <xsd:sequence>
          <xsd:element name="documentManagement">
            <xsd:complexType>
              <xsd:all>
                <xsd:element ref="ns2:ECDocOwner" minOccurs="0"/>
                <xsd:element ref="ns2:TaxCatchAll" minOccurs="0"/>
                <xsd:element ref="ns2:ECLanguage" minOccurs="0"/>
                <xsd:element ref="ns2:ECDocumentType"/>
                <xsd:element ref="ns2:ECBusinessAreaNote" minOccurs="0"/>
                <xsd:element ref="ns2:ECKeywordsNote" minOccurs="0"/>
                <xsd:element ref="ns2:TaxCatchAllLabel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odifiedb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475fc6-566e-42cf-b398-8efb44d73ac7" elementFormDefault="qualified">
    <xsd:import namespace="http://schemas.microsoft.com/office/2006/documentManagement/types"/>
    <xsd:import namespace="http://schemas.microsoft.com/office/infopath/2007/PartnerControls"/>
    <xsd:element name="ECDocOwner" ma:index="1" nillable="true" ma:displayName="Doc Owner" ma:SharePointGroup="0" ma:internalName="ECDoc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xCatchAll" ma:index="4" nillable="true" ma:displayName="Taxonomy Catch All Column" ma:hidden="true" ma:list="{fe82e88d-9f68-4bdd-8c25-2446d1f15610}" ma:internalName="TaxCatchAll" ma:readOnly="false" ma:showField="CatchAllData" ma:web="4d475fc6-566e-42cf-b398-8efb44d73a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CLanguage" ma:index="5" nillable="true" ma:displayName="Language" ma:default="English" ma:format="Dropdown" ma:internalName="ECLanguage" ma:readOnly="false">
      <xsd:simpleType>
        <xsd:union memberTypes="dms:Text">
          <xsd:simpleType>
            <xsd:restriction base="dms:Choice">
              <xsd:enumeration value="English"/>
              <xsd:enumeration value="French"/>
              <xsd:enumeration value="French/English"/>
            </xsd:restriction>
          </xsd:simpleType>
        </xsd:union>
      </xsd:simpleType>
    </xsd:element>
    <xsd:element name="ECDocumentType" ma:index="6" ma:displayName="Document Type" ma:default="Document" ma:format="Dropdown" ma:internalName="ECDocumentType">
      <xsd:simpleType>
        <xsd:union memberTypes="dms:Text">
          <xsd:simpleType>
            <xsd:restriction base="dms:Choice">
              <xsd:enumeration value="Rules"/>
              <xsd:enumeration value="Forms"/>
              <xsd:enumeration value="Useful information"/>
              <xsd:enumeration value="Document"/>
            </xsd:restriction>
          </xsd:simpleType>
        </xsd:union>
      </xsd:simpleType>
    </xsd:element>
    <xsd:element name="ECBusinessAreaNote" ma:index="14" nillable="true" ma:taxonomy="true" ma:internalName="ECBusinessAreaNote" ma:taxonomyFieldName="ECBusinessArea" ma:displayName="Business Area" ma:readOnly="false" ma:fieldId="{37d08d73-368a-4fe6-8110-9b3f430087b2}" ma:taxonomyMulti="true" ma:sspId="6e0a0760-558a-4e73-b010-5bf02b179f8d" ma:termSetId="4241cab0-9df6-4527-ae1a-ca7d81cc8c0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CKeywordsNote" ma:index="15" nillable="true" ma:taxonomy="true" ma:internalName="ECKeywordsNote" ma:taxonomyFieldName="ECKeywords" ma:displayName="Keywords" ma:readOnly="false" ma:default="" ma:fieldId="{bb53811f-f974-4e01-ab03-609581c50749}" ma:taxonomyMulti="true" ma:sspId="6e0a0760-558a-4e73-b010-5bf02b179f8d" ma:termSetId="fabeeec4-ee4d-455c-a697-36a6a30c6bf3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Label" ma:index="16" nillable="true" ma:displayName="Taxonomy Catch All Column1" ma:hidden="true" ma:list="{fe82e88d-9f68-4bdd-8c25-2446d1f15610}" ma:internalName="TaxCatchAllLabel" ma:readOnly="false" ma:showField="CatchAllDataLabel" ma:web="4d475fc6-566e-42cf-b398-8efb44d73a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19ed6-bc38-43f5-b20b-5afa09cb8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e0a0760-558a-4e73-b010-5bf02b179f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odifiedby" ma:index="30" nillable="true" ma:displayName="Modified by" ma:format="Dropdown" ma:indexed="true" ma:list="UserInfo" ma:SharePointGroup="0" ma:internalName="Modifiedby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Content Type"/>
        <xsd:element ref="dc:title" minOccurs="0" maxOccurs="1" ma:index="0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1D2A5E-537D-4E97-A220-BB1846B64E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5401AD-94C8-42C6-8E85-B3FF7CFF4D6F}">
  <ds:schemaRefs>
    <ds:schemaRef ds:uri="4d475fc6-566e-42cf-b398-8efb44d73ac7"/>
    <ds:schemaRef ds:uri="84f19ed6-bc38-43f5-b20b-5afa09cb8ec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B744D94-B8E5-4867-936F-3283B14D53E2}">
  <ds:schemaRefs>
    <ds:schemaRef ds:uri="4d475fc6-566e-42cf-b398-8efb44d73ac7"/>
    <ds:schemaRef ds:uri="84f19ed6-bc38-43f5-b20b-5afa09cb8e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d60f3b8-f236-4830-aecc-da0a7fc54679}" enabled="1" method="Standard" siteId="{76f33c20-5979-4408-adf7-8b3c4be95e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Agency template 2024</Template>
  <TotalTime>0</TotalTime>
  <Words>33</Words>
  <Application>Microsoft Office PowerPoint</Application>
  <PresentationFormat>Widescreen</PresentationFormat>
  <Paragraphs>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2_Office Theme</vt:lpstr>
      <vt:lpstr>Office Theme</vt:lpstr>
      <vt:lpstr>1_Office Theme</vt:lpstr>
      <vt:lpstr>3_Office Theme</vt:lpstr>
      <vt:lpstr>4_Office Theme</vt:lpstr>
      <vt:lpstr>5_Office Theme</vt:lpstr>
      <vt:lpstr>PowerPoint Presentation</vt:lpstr>
      <vt:lpstr>Click to add title</vt:lpstr>
      <vt:lpstr>Click to add title</vt:lpstr>
      <vt:lpstr>Click to add title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DALMAU CODINA Ramon</dc:creator>
  <cp:lastModifiedBy>DALMAU CODINA Ramon</cp:lastModifiedBy>
  <cp:revision>1</cp:revision>
  <dcterms:created xsi:type="dcterms:W3CDTF">2026-08-25T09:57:44Z</dcterms:created>
  <dcterms:modified xsi:type="dcterms:W3CDTF">2026-08-25T09:57:58Z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0x010100CEFBA9774AC9B7469FBCCFCC8580DDA400E4B157B1C699764E8891FBB217837A00</vt:lpwstr>
  </property>
  <property fmtid="{D5CDD505-2E9C-101B-9397-08002B2CF9AE}" pid="3" name="MediaServiceImageTags">
    <vt:lpwstr/>
  </property>
  <property fmtid="{D5CDD505-2E9C-101B-9397-08002B2CF9AE}" pid="4" name="ECKeywords">
    <vt:lpwstr>404;#template|a56de906-8def-4668-842e-deaef96688ed</vt:lpwstr>
  </property>
  <property fmtid="{D5CDD505-2E9C-101B-9397-08002B2CF9AE}" pid="5" name="ECBusinessArea">
    <vt:lpwstr>16;#Corporate Communications|6c843ef0-6bc6-4aa4-acd8-4d1d2bf0ef0a</vt:lpwstr>
  </property>
</Properties>
</file>